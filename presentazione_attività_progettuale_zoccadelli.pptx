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1" r:id="rId3"/>
  </p:sldMasterIdLst>
  <p:notesMasterIdLst>
    <p:notesMasterId r:id="rId23"/>
  </p:notesMasterIdLst>
  <p:sldIdLst>
    <p:sldId id="263" r:id="rId4"/>
    <p:sldId id="264" r:id="rId5"/>
    <p:sldId id="266" r:id="rId6"/>
    <p:sldId id="271" r:id="rId7"/>
    <p:sldId id="267" r:id="rId8"/>
    <p:sldId id="273" r:id="rId9"/>
    <p:sldId id="269" r:id="rId10"/>
    <p:sldId id="268" r:id="rId11"/>
    <p:sldId id="270" r:id="rId12"/>
    <p:sldId id="272" r:id="rId13"/>
    <p:sldId id="274" r:id="rId14"/>
    <p:sldId id="275" r:id="rId15"/>
    <p:sldId id="277" r:id="rId16"/>
    <p:sldId id="278" r:id="rId17"/>
    <p:sldId id="279" r:id="rId18"/>
    <p:sldId id="280" r:id="rId19"/>
    <p:sldId id="281" r:id="rId20"/>
    <p:sldId id="282" r:id="rId21"/>
    <p:sldId id="265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2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4604" autoAdjust="0"/>
  </p:normalViewPr>
  <p:slideViewPr>
    <p:cSldViewPr showGuides="1">
      <p:cViewPr varScale="1">
        <p:scale>
          <a:sx n="76" d="100"/>
          <a:sy n="76" d="100"/>
        </p:scale>
        <p:origin x="48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160CE-A38D-4A58-A52E-FE34B9ECCBAA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BF074-D0E4-4A09-AAEB-E5AD8CF7937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22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Nota: </a:t>
            </a:r>
            <a:r>
              <a:rPr lang="en-GB" dirty="0" err="1"/>
              <a:t>gli</a:t>
            </a:r>
            <a:r>
              <a:rPr lang="en-GB" dirty="0"/>
              <a:t> </a:t>
            </a:r>
            <a:r>
              <a:rPr lang="en-GB" dirty="0" err="1"/>
              <a:t>appelli</a:t>
            </a:r>
            <a:r>
              <a:rPr lang="en-GB" dirty="0"/>
              <a:t> di </a:t>
            </a:r>
            <a:r>
              <a:rPr lang="en-GB" dirty="0" err="1"/>
              <a:t>febbraio</a:t>
            </a:r>
            <a:r>
              <a:rPr lang="en-GB" dirty="0"/>
              <a:t>/</a:t>
            </a:r>
            <a:r>
              <a:rPr lang="en-GB" dirty="0" err="1"/>
              <a:t>marzo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riferiscono</a:t>
            </a:r>
            <a:r>
              <a:rPr lang="en-GB" dirty="0"/>
              <a:t> </a:t>
            </a:r>
            <a:r>
              <a:rPr lang="en-GB" dirty="0" err="1"/>
              <a:t>all’anno</a:t>
            </a:r>
            <a:r>
              <a:rPr lang="en-GB" dirty="0"/>
              <a:t> </a:t>
            </a:r>
            <a:r>
              <a:rPr lang="en-GB" dirty="0" err="1"/>
              <a:t>accademico</a:t>
            </a:r>
            <a:r>
              <a:rPr lang="en-GB" dirty="0"/>
              <a:t> </a:t>
            </a:r>
            <a:r>
              <a:rPr lang="en-GB" dirty="0" err="1"/>
              <a:t>precedente</a:t>
            </a:r>
            <a:r>
              <a:rPr lang="en-GB" dirty="0"/>
              <a:t> a </a:t>
            </a:r>
            <a:r>
              <a:rPr lang="en-GB" dirty="0" err="1"/>
              <a:t>quello</a:t>
            </a:r>
            <a:r>
              <a:rPr lang="en-GB" dirty="0"/>
              <a:t> in </a:t>
            </a:r>
            <a:r>
              <a:rPr lang="en-GB"/>
              <a:t>corso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BF074-D0E4-4A09-AAEB-E5AD8CF7937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515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inserire </a:t>
            </a:r>
          </a:p>
          <a:p>
            <a:pPr lvl="0"/>
            <a:r>
              <a:rPr lang="it-IT" dirty="0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Dipartimento/Struttura </a:t>
            </a:r>
            <a:r>
              <a:rPr lang="it-IT" dirty="0" err="1"/>
              <a:t>xxxxxx</a:t>
            </a:r>
            <a:r>
              <a:rPr lang="it-IT" dirty="0"/>
              <a:t> </a:t>
            </a:r>
            <a:r>
              <a:rPr lang="it-IT" dirty="0" err="1"/>
              <a:t>xxxxxxxxxxxx</a:t>
            </a:r>
            <a:r>
              <a:rPr lang="it-IT" dirty="0"/>
              <a:t> </a:t>
            </a:r>
            <a:r>
              <a:rPr lang="it-IT" dirty="0" err="1"/>
              <a:t>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r>
              <a:rPr lang="it-IT" dirty="0"/>
              <a:t> </a:t>
            </a:r>
            <a:r>
              <a:rPr lang="it-IT" dirty="0" err="1"/>
              <a:t>xxxxxxxxxxxxxxxxxxx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672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punto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6"/>
            <a:ext cx="11233149" cy="43194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12" hasCustomPrompt="1"/>
          </p:nvPr>
        </p:nvSpPr>
        <p:spPr>
          <a:xfrm>
            <a:off x="527051" y="1989138"/>
            <a:ext cx="11233149" cy="3744118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800" baseline="0">
                <a:latin typeface="Century Gothic" panose="020B0502020202020204" pitchFamily="34" charset="0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800">
                <a:latin typeface="Century Gothic" panose="020B0502020202020204" pitchFamily="34" charset="0"/>
              </a:defRPr>
            </a:lvl2pPr>
          </a:lstStyle>
          <a:p>
            <a:pPr lvl="1"/>
            <a:r>
              <a:rPr lang="it-IT" dirty="0"/>
              <a:t>Fare clic per modificare il punto elenco uno</a:t>
            </a:r>
          </a:p>
          <a:p>
            <a:pPr lvl="1"/>
            <a:r>
              <a:rPr lang="it-IT" dirty="0"/>
              <a:t>Fare clic per modificare il punto elenco due</a:t>
            </a:r>
          </a:p>
          <a:p>
            <a:pPr lvl="1"/>
            <a:r>
              <a:rPr lang="it-IT" dirty="0"/>
              <a:t>Fare clic per modificare il punto elenco tre</a:t>
            </a:r>
          </a:p>
          <a:p>
            <a:pPr lvl="1"/>
            <a:r>
              <a:rPr lang="it-IT" dirty="0"/>
              <a:t>Fare clic per modificare il punto elenco quattro</a:t>
            </a:r>
          </a:p>
        </p:txBody>
      </p:sp>
      <p:sp>
        <p:nvSpPr>
          <p:cNvPr id="16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304385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5"/>
            <a:ext cx="11233149" cy="432038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41815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grafico 8"/>
          <p:cNvSpPr>
            <a:spLocks noGrp="1"/>
          </p:cNvSpPr>
          <p:nvPr>
            <p:ph type="chart" sz="quarter" idx="10" hasCustomPrompt="1"/>
          </p:nvPr>
        </p:nvSpPr>
        <p:spPr>
          <a:xfrm>
            <a:off x="911026" y="2781300"/>
            <a:ext cx="10369551" cy="2951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r>
              <a:rPr lang="it-IT" dirty="0"/>
              <a:t>Fare clic sull’icona per inserire un grafico</a:t>
            </a:r>
          </a:p>
        </p:txBody>
      </p:sp>
      <p:sp>
        <p:nvSpPr>
          <p:cNvPr id="11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27051" y="1412876"/>
            <a:ext cx="11233149" cy="43194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6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55583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10"/>
          <p:cNvSpPr>
            <a:spLocks noGrp="1"/>
          </p:cNvSpPr>
          <p:nvPr>
            <p:ph type="pic" sz="quarter" idx="10" hasCustomPrompt="1"/>
          </p:nvPr>
        </p:nvSpPr>
        <p:spPr>
          <a:xfrm>
            <a:off x="1534584" y="1700809"/>
            <a:ext cx="9122833" cy="410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entury Gothic" panose="020B0502020202020204" pitchFamily="34" charset="0"/>
              </a:defRPr>
            </a:lvl1pPr>
          </a:lstStyle>
          <a:p>
            <a:r>
              <a:rPr lang="it-IT" dirty="0"/>
              <a:t>Fare clic sull’icona per inserire un’immagine</a:t>
            </a:r>
          </a:p>
        </p:txBody>
      </p:sp>
      <p:sp>
        <p:nvSpPr>
          <p:cNvPr id="5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397025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487488" y="2780928"/>
            <a:ext cx="9217024" cy="43237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39483" y="3573017"/>
            <a:ext cx="9313035" cy="93610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Struttura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1390651" y="4725144"/>
            <a:ext cx="9410700" cy="144016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 b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nome.cognome@unibo.it</a:t>
            </a:r>
          </a:p>
          <a:p>
            <a:pPr lvl="0"/>
            <a:r>
              <a:rPr lang="it-IT" dirty="0"/>
              <a:t>051 20 99982</a:t>
            </a:r>
          </a:p>
        </p:txBody>
      </p:sp>
    </p:spTree>
    <p:extLst>
      <p:ext uri="{BB962C8B-B14F-4D97-AF65-F5344CB8AC3E}">
        <p14:creationId xmlns:p14="http://schemas.microsoft.com/office/powerpoint/2010/main" val="424945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ttore 1 11"/>
          <p:cNvCxnSpPr/>
          <p:nvPr userDrawn="1"/>
        </p:nvCxnSpPr>
        <p:spPr>
          <a:xfrm>
            <a:off x="4367808" y="188640"/>
            <a:ext cx="0" cy="640871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>
            <a:extLst>
              <a:ext uri="{FF2B5EF4-FFF2-40B4-BE49-F238E27FC236}">
                <a16:creationId xmlns:a16="http://schemas.microsoft.com/office/drawing/2014/main" id="{D255489D-76A8-E672-69FA-FCBAAEEF20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432" y="2060848"/>
            <a:ext cx="2436897" cy="200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DBB4CC0-6D15-44B2-AE09-437886EB4F4E}"/>
              </a:ext>
            </a:extLst>
          </p:cNvPr>
          <p:cNvSpPr txBox="1"/>
          <p:nvPr userDrawn="1"/>
        </p:nvSpPr>
        <p:spPr>
          <a:xfrm>
            <a:off x="179512" y="6525019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23C9881-DC19-44C1-8307-96C20AE8129F}" type="slidenum">
              <a:rPr lang="it-IT" sz="1200" smtClean="0"/>
              <a:t>‹N›</a:t>
            </a:fld>
            <a:endParaRPr lang="it-IT" sz="1200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4E4E8204-EDE2-5150-08A6-758A9CC3921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32368" y="5776081"/>
            <a:ext cx="1080120" cy="88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5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1" r:id="rId2"/>
    <p:sldLayoutId id="2147483667" r:id="rId3"/>
    <p:sldLayoutId id="2147483669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/>
          <p:cNvSpPr txBox="1"/>
          <p:nvPr userDrawn="1"/>
        </p:nvSpPr>
        <p:spPr>
          <a:xfrm>
            <a:off x="4175787" y="6453336"/>
            <a:ext cx="3840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www.unibo.it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171E132-10F0-3125-267A-D0F1DF452F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23892" y="620688"/>
            <a:ext cx="1944216" cy="159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9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>
          <a:xfrm>
            <a:off x="4704391" y="1857028"/>
            <a:ext cx="6913364" cy="1800200"/>
          </a:xfrm>
        </p:spPr>
        <p:txBody>
          <a:bodyPr/>
          <a:lstStyle/>
          <a:p>
            <a:r>
              <a:rPr lang="it-IT" dirty="0"/>
              <a:t>Attività progettuale su </a:t>
            </a:r>
            <a:r>
              <a:rPr lang="it-IT" dirty="0" err="1"/>
              <a:t>Federated</a:t>
            </a:r>
            <a:r>
              <a:rPr lang="it-IT" dirty="0"/>
              <a:t> </a:t>
            </a:r>
            <a:r>
              <a:rPr lang="it-IT" dirty="0" err="1"/>
              <a:t>Unlearning</a:t>
            </a:r>
            <a:endParaRPr lang="it-IT" dirty="0"/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4A842A0E-8539-DABE-CCAF-9C96D54B3D51}"/>
              </a:ext>
            </a:extLst>
          </p:cNvPr>
          <p:cNvSpPr txBox="1">
            <a:spLocks/>
          </p:cNvSpPr>
          <p:nvPr/>
        </p:nvSpPr>
        <p:spPr>
          <a:xfrm>
            <a:off x="4751917" y="6315918"/>
            <a:ext cx="7008283" cy="35344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0" dirty="0"/>
              <a:t>Anno Accademico 2025-2026</a:t>
            </a:r>
          </a:p>
        </p:txBody>
      </p:sp>
      <p:sp>
        <p:nvSpPr>
          <p:cNvPr id="13" name="Segnaposto testo 11">
            <a:extLst>
              <a:ext uri="{FF2B5EF4-FFF2-40B4-BE49-F238E27FC236}">
                <a16:creationId xmlns:a16="http://schemas.microsoft.com/office/drawing/2014/main" id="{59A09C9C-917F-E2E2-197D-27D9ECAF57B3}"/>
              </a:ext>
            </a:extLst>
          </p:cNvPr>
          <p:cNvSpPr txBox="1">
            <a:spLocks/>
          </p:cNvSpPr>
          <p:nvPr/>
        </p:nvSpPr>
        <p:spPr>
          <a:xfrm>
            <a:off x="4704391" y="3657228"/>
            <a:ext cx="4032448" cy="4254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Lorenzo Zoccadelli</a:t>
            </a:r>
          </a:p>
        </p:txBody>
      </p:sp>
    </p:spTree>
    <p:extLst>
      <p:ext uri="{BB962C8B-B14F-4D97-AF65-F5344CB8AC3E}">
        <p14:creationId xmlns:p14="http://schemas.microsoft.com/office/powerpoint/2010/main" val="3085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>
          <a:xfrm>
            <a:off x="527052" y="620689"/>
            <a:ext cx="9743530" cy="648071"/>
          </a:xfrm>
        </p:spPr>
        <p:txBody>
          <a:bodyPr/>
          <a:lstStyle/>
          <a:p>
            <a:r>
              <a:rPr lang="it-IT" dirty="0" err="1"/>
              <a:t>Federated</a:t>
            </a:r>
            <a:r>
              <a:rPr lang="it-IT" dirty="0"/>
              <a:t> Learning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sz="2000" dirty="0"/>
              <a:t>Utilizzato per: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Permettere il training di un modello di machine learning in maniera distribuita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Garantire la </a:t>
            </a:r>
            <a:r>
              <a:rPr lang="it-IT" sz="2000" b="1" dirty="0"/>
              <a:t>privacy dei dati </a:t>
            </a:r>
            <a:r>
              <a:rPr lang="it-IT" sz="2000" dirty="0"/>
              <a:t>che non lasciano mai i dispositivi dei proprietari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r>
              <a:rPr lang="it-IT" sz="2000" b="1" dirty="0"/>
              <a:t>Ma...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L’influenza di tali dati rimane </a:t>
            </a:r>
            <a:r>
              <a:rPr lang="it-IT" sz="2000" b="1" dirty="0"/>
              <a:t>codificata all’interno del modello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Il modello solitamente ha un </a:t>
            </a:r>
            <a:r>
              <a:rPr lang="it-IT" sz="2000" b="1" dirty="0"/>
              <a:t>comportamento diverso </a:t>
            </a:r>
            <a:r>
              <a:rPr lang="it-IT" sz="2000" dirty="0"/>
              <a:t>su dati su cui è stato addestrato</a:t>
            </a:r>
          </a:p>
          <a:p>
            <a:endParaRPr lang="it-IT" sz="2000" dirty="0"/>
          </a:p>
          <a:p>
            <a:r>
              <a:rPr lang="it-IT" sz="2000" dirty="0"/>
              <a:t>Ad esempio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/>
              <a:t>Overfitting</a:t>
            </a:r>
            <a:endParaRPr lang="it-I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Memorizzazione</a:t>
            </a:r>
            <a:r>
              <a:rPr lang="it-IT" sz="2000" dirty="0"/>
              <a:t> di dati particolari</a:t>
            </a:r>
          </a:p>
        </p:txBody>
      </p:sp>
    </p:spTree>
    <p:extLst>
      <p:ext uri="{BB962C8B-B14F-4D97-AF65-F5344CB8AC3E}">
        <p14:creationId xmlns:p14="http://schemas.microsoft.com/office/powerpoint/2010/main" val="1199445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7DA19-B8B0-8F40-57D9-E7B5EA6C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00AD96F-EE6C-1128-5417-B8957C3EC0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2" y="620689"/>
            <a:ext cx="9743530" cy="648071"/>
          </a:xfrm>
        </p:spPr>
        <p:txBody>
          <a:bodyPr/>
          <a:lstStyle/>
          <a:p>
            <a:r>
              <a:rPr lang="it-IT" dirty="0"/>
              <a:t>Necessità dell’</a:t>
            </a:r>
            <a:r>
              <a:rPr lang="it-IT" dirty="0" err="1"/>
              <a:t>Unlearning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602A94-2484-BBCD-5C84-792FD89E4B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412875"/>
            <a:ext cx="11233149" cy="1368053"/>
          </a:xfrm>
        </p:spPr>
        <p:txBody>
          <a:bodyPr/>
          <a:lstStyle/>
          <a:p>
            <a:r>
              <a:rPr lang="it-IT" sz="2000" dirty="0"/>
              <a:t>Garantire </a:t>
            </a:r>
            <a:r>
              <a:rPr lang="it-IT" sz="2000" b="1" dirty="0"/>
              <a:t>diritto all’oblio</a:t>
            </a:r>
            <a:r>
              <a:rPr lang="it-IT" sz="2000" dirty="0"/>
              <a:t>: necessario considerare questi fattori </a:t>
            </a:r>
          </a:p>
          <a:p>
            <a:endParaRPr lang="it-IT" sz="2000" dirty="0"/>
          </a:p>
          <a:p>
            <a:r>
              <a:rPr lang="it-IT" sz="2000" dirty="0"/>
              <a:t>Richiesta di cancellazione dati -&gt; il modello dovrebbe ‘dimenticare’ i dati che ha visto</a:t>
            </a:r>
          </a:p>
        </p:txBody>
      </p:sp>
      <p:pic>
        <p:nvPicPr>
          <p:cNvPr id="6" name="Immagine 5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A6F6F00-5391-41D7-15E0-09A20AC7CF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0" t="14382" r="5000" b="14116"/>
          <a:stretch>
            <a:fillRect/>
          </a:stretch>
        </p:blipFill>
        <p:spPr>
          <a:xfrm>
            <a:off x="1887278" y="2925043"/>
            <a:ext cx="7800735" cy="330695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41C43B8-C0F0-5AA5-255F-623C49F7509D}"/>
              </a:ext>
            </a:extLst>
          </p:cNvPr>
          <p:cNvSpPr txBox="1"/>
          <p:nvPr/>
        </p:nvSpPr>
        <p:spPr>
          <a:xfrm>
            <a:off x="7497719" y="5954994"/>
            <a:ext cx="2214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Century Gothic" panose="020B0502020202020204" pitchFamily="34" charset="0"/>
              </a:rPr>
              <a:t>Immagine</a:t>
            </a:r>
            <a:r>
              <a:rPr lang="it-IT" sz="1100" dirty="0"/>
              <a:t> </a:t>
            </a:r>
            <a:r>
              <a:rPr lang="it-IT" sz="1200" dirty="0">
                <a:latin typeface="Century Gothic" panose="020B0502020202020204" pitchFamily="34" charset="0"/>
              </a:rPr>
              <a:t>generata con AI</a:t>
            </a:r>
          </a:p>
        </p:txBody>
      </p:sp>
    </p:spTree>
    <p:extLst>
      <p:ext uri="{BB962C8B-B14F-4D97-AF65-F5344CB8AC3E}">
        <p14:creationId xmlns:p14="http://schemas.microsoft.com/office/powerpoint/2010/main" val="130539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B413-71C1-AF49-80E7-A77891C0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3CD11CC-E20B-E7BA-CE85-9EC293A3C6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2" y="620689"/>
            <a:ext cx="9743530" cy="648071"/>
          </a:xfrm>
        </p:spPr>
        <p:txBody>
          <a:bodyPr/>
          <a:lstStyle/>
          <a:p>
            <a:r>
              <a:rPr lang="it-IT" dirty="0" err="1"/>
              <a:t>Unlearning</a:t>
            </a:r>
            <a:r>
              <a:rPr lang="it-IT" dirty="0"/>
              <a:t> Esatto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376377-521C-0527-607B-698DBCD20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412876"/>
            <a:ext cx="5784973" cy="1855886"/>
          </a:xfrm>
        </p:spPr>
        <p:txBody>
          <a:bodyPr/>
          <a:lstStyle/>
          <a:p>
            <a:r>
              <a:rPr lang="it-IT" sz="2000" dirty="0"/>
              <a:t>Idealmente: </a:t>
            </a:r>
            <a:r>
              <a:rPr lang="it-IT" sz="2000" dirty="0" err="1"/>
              <a:t>Unlearning</a:t>
            </a:r>
            <a:r>
              <a:rPr lang="it-IT" sz="2000" dirty="0"/>
              <a:t> esatto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/>
              <a:t>Retraining</a:t>
            </a:r>
            <a:r>
              <a:rPr lang="it-IT" sz="2000" dirty="0"/>
              <a:t> -&gt; inefficiente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Approcci </a:t>
            </a:r>
            <a:r>
              <a:rPr lang="it-IT" sz="2000" b="1" dirty="0" err="1"/>
              <a:t>ensamble</a:t>
            </a:r>
            <a:r>
              <a:rPr lang="it-IT" sz="2000" dirty="0"/>
              <a:t> tipo SISA -&gt; inefficienti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Utilizzando una sola rete -&gt; impossibile al lato pratico</a:t>
            </a:r>
          </a:p>
          <a:p>
            <a:endParaRPr lang="it-IT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80D1C03-4698-5C96-3C08-9D2AAD854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16" y="404664"/>
            <a:ext cx="5574584" cy="2864097"/>
          </a:xfrm>
          <a:prstGeom prst="rect">
            <a:avLst/>
          </a:prstGeom>
        </p:spPr>
      </p:pic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5AB1D291-F6AE-3A67-49F0-0DB5C2BFB07C}"/>
              </a:ext>
            </a:extLst>
          </p:cNvPr>
          <p:cNvSpPr txBox="1">
            <a:spLocks/>
          </p:cNvSpPr>
          <p:nvPr/>
        </p:nvSpPr>
        <p:spPr>
          <a:xfrm>
            <a:off x="527051" y="3484786"/>
            <a:ext cx="11185573" cy="23600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 err="1"/>
              <a:t>Slimmable</a:t>
            </a:r>
            <a:r>
              <a:rPr lang="it-IT" sz="2000" b="1" dirty="0"/>
              <a:t> </a:t>
            </a:r>
            <a:r>
              <a:rPr lang="it-IT" sz="2000" b="1" dirty="0" err="1"/>
              <a:t>neural</a:t>
            </a:r>
            <a:r>
              <a:rPr lang="it-IT" sz="2000" b="1" dirty="0"/>
              <a:t> network </a:t>
            </a:r>
            <a:r>
              <a:rPr lang="it-IT" sz="2000" dirty="0"/>
              <a:t>-&gt; eliminare una sotto parte della rete mantenendo le prestazioni</a:t>
            </a:r>
          </a:p>
          <a:p>
            <a:endParaRPr lang="it-IT" sz="2000" dirty="0"/>
          </a:p>
          <a:p>
            <a:r>
              <a:rPr lang="it-IT" sz="2000" dirty="0"/>
              <a:t>Idealmente: adattare questo approccio in modo che ogni porzione venga influenzata solamente dai dati di un client -&gt; eliminazione selettiva efficiente</a:t>
            </a:r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1909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DD483-DCAA-44C2-BD47-41A6F28EE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61D3471-FF9A-6558-3546-AD7F024A0E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2" y="620689"/>
            <a:ext cx="9743530" cy="648071"/>
          </a:xfrm>
        </p:spPr>
        <p:txBody>
          <a:bodyPr/>
          <a:lstStyle/>
          <a:p>
            <a:r>
              <a:rPr lang="it-IT" dirty="0" err="1"/>
              <a:t>Unlearning</a:t>
            </a:r>
            <a:r>
              <a:rPr lang="it-IT" dirty="0"/>
              <a:t> Approssimato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3F2623-E63B-CB2A-9EE9-42C95174B2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412875"/>
            <a:ext cx="11233149" cy="5256485"/>
          </a:xfrm>
        </p:spPr>
        <p:txBody>
          <a:bodyPr/>
          <a:lstStyle/>
          <a:p>
            <a:r>
              <a:rPr lang="it-IT" sz="2000" dirty="0"/>
              <a:t>La maggior parte delle soluzioni utilizzate e più efficienti si basano su </a:t>
            </a:r>
            <a:r>
              <a:rPr lang="it-IT" sz="2000" dirty="0" err="1"/>
              <a:t>unlearning</a:t>
            </a:r>
            <a:r>
              <a:rPr lang="it-IT" sz="2000" dirty="0"/>
              <a:t> approssimato</a:t>
            </a:r>
          </a:p>
          <a:p>
            <a:endParaRPr lang="it-IT" sz="2000" dirty="0"/>
          </a:p>
          <a:p>
            <a:r>
              <a:rPr lang="it-IT" sz="2000" b="1" dirty="0"/>
              <a:t>Vari approcci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Ricalibrazione tramite storico degli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Knowledge </a:t>
            </a:r>
            <a:r>
              <a:rPr lang="it-IT" sz="2000" dirty="0" err="1"/>
              <a:t>distillation</a:t>
            </a: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Approcci basati sui gradienti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Basati su </a:t>
            </a:r>
            <a:r>
              <a:rPr lang="it-IT" sz="2000" dirty="0" err="1"/>
              <a:t>pruning</a:t>
            </a:r>
            <a:r>
              <a:rPr lang="it-IT" sz="2000" dirty="0"/>
              <a:t> di pesi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r>
              <a:rPr lang="it-IT" sz="2000" b="1" dirty="0"/>
              <a:t>Non danno la garanzia a priori che la rete finale sia equivalente a una che non ha mai visto i dati dimenticati</a:t>
            </a:r>
          </a:p>
          <a:p>
            <a:endParaRPr lang="it-IT" sz="2000" b="1" dirty="0"/>
          </a:p>
          <a:p>
            <a:r>
              <a:rPr lang="it-IT" sz="2000" i="1" dirty="0"/>
              <a:t>Approfonditi vari metodi: </a:t>
            </a:r>
            <a:r>
              <a:rPr lang="it-IT" sz="2000" i="1" dirty="0" err="1"/>
              <a:t>FedEraser</a:t>
            </a:r>
            <a:r>
              <a:rPr lang="it-IT" sz="2000" i="1" dirty="0"/>
              <a:t>, KD </a:t>
            </a:r>
            <a:r>
              <a:rPr lang="it-IT" sz="2000" i="1" dirty="0" err="1"/>
              <a:t>unelarning</a:t>
            </a:r>
            <a:r>
              <a:rPr lang="it-IT" sz="2000" i="1" dirty="0"/>
              <a:t>, GA </a:t>
            </a:r>
            <a:r>
              <a:rPr lang="it-IT" sz="2000" i="1" dirty="0" err="1"/>
              <a:t>unlearning</a:t>
            </a:r>
            <a:r>
              <a:rPr lang="it-IT" sz="2000" i="1" dirty="0"/>
              <a:t>, </a:t>
            </a:r>
            <a:r>
              <a:rPr lang="it-IT" sz="2000" i="1" dirty="0" err="1"/>
              <a:t>NoT</a:t>
            </a:r>
            <a:endParaRPr lang="it-IT" sz="2000" i="1" dirty="0"/>
          </a:p>
        </p:txBody>
      </p:sp>
    </p:spTree>
    <p:extLst>
      <p:ext uri="{BB962C8B-B14F-4D97-AF65-F5344CB8AC3E}">
        <p14:creationId xmlns:p14="http://schemas.microsoft.com/office/powerpoint/2010/main" val="202305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B9D6B-1F6E-3B90-AF30-8FC27417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EA76BE8-EEFD-1441-DC6D-61C4D96845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2" y="620689"/>
            <a:ext cx="9743530" cy="648071"/>
          </a:xfrm>
        </p:spPr>
        <p:txBody>
          <a:bodyPr/>
          <a:lstStyle/>
          <a:p>
            <a:r>
              <a:rPr lang="it-IT" dirty="0"/>
              <a:t>Privacy vs Backdoor </a:t>
            </a:r>
            <a:r>
              <a:rPr lang="it-IT" dirty="0" err="1"/>
              <a:t>Unlearning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F361B9F-CC3E-3179-166D-73320CB3DC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sz="2000" dirty="0"/>
              <a:t>Obiettivo dell’</a:t>
            </a:r>
            <a:r>
              <a:rPr lang="it-IT" sz="2000" dirty="0" err="1"/>
              <a:t>unlearning</a:t>
            </a:r>
            <a:r>
              <a:rPr lang="it-IT" sz="2000" dirty="0"/>
              <a:t> può essere per </a:t>
            </a:r>
            <a:r>
              <a:rPr lang="it-IT" sz="2000" b="1" dirty="0"/>
              <a:t>garantire la privacy </a:t>
            </a:r>
            <a:r>
              <a:rPr lang="it-IT" sz="2000" dirty="0"/>
              <a:t>o per </a:t>
            </a:r>
            <a:r>
              <a:rPr lang="it-IT" sz="2000" b="1" dirty="0"/>
              <a:t>eliminare l’efficacia delle backdoor sul modello</a:t>
            </a:r>
          </a:p>
          <a:p>
            <a:endParaRPr lang="it-I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L’</a:t>
            </a:r>
            <a:r>
              <a:rPr lang="it-IT" sz="2000" dirty="0" err="1"/>
              <a:t>unlearning</a:t>
            </a:r>
            <a:r>
              <a:rPr lang="it-IT" sz="2000" dirty="0"/>
              <a:t> contro le </a:t>
            </a:r>
            <a:r>
              <a:rPr lang="it-IT" sz="2000" b="1" dirty="0"/>
              <a:t>backdoor</a:t>
            </a:r>
            <a:r>
              <a:rPr lang="it-IT" sz="2000" dirty="0"/>
              <a:t> richiede </a:t>
            </a:r>
            <a:r>
              <a:rPr lang="it-IT" sz="2000" b="1" dirty="0"/>
              <a:t>minori garanzie </a:t>
            </a:r>
            <a:r>
              <a:rPr lang="it-IT" sz="2000" dirty="0"/>
              <a:t>(anche solo l’</a:t>
            </a:r>
            <a:r>
              <a:rPr lang="it-IT" sz="2000" dirty="0" err="1"/>
              <a:t>accuracy</a:t>
            </a:r>
            <a:r>
              <a:rPr lang="it-IT" sz="2000" dirty="0"/>
              <a:t> sui dati con backdoor è già molto significativa per l’obiettivo)</a:t>
            </a:r>
          </a:p>
          <a:p>
            <a:r>
              <a:rPr lang="it-IT" sz="2000" i="1" dirty="0"/>
              <a:t>     Alcuni metodi di </a:t>
            </a:r>
            <a:r>
              <a:rPr lang="it-IT" sz="2000" i="1" dirty="0" err="1"/>
              <a:t>unlearning</a:t>
            </a:r>
            <a:r>
              <a:rPr lang="it-IT" sz="2000" i="1" dirty="0"/>
              <a:t> sono principalmente testati contro le backdoor</a:t>
            </a:r>
          </a:p>
          <a:p>
            <a:endParaRPr lang="it-I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L’</a:t>
            </a:r>
            <a:r>
              <a:rPr lang="it-IT" sz="2000" dirty="0" err="1"/>
              <a:t>unlearning</a:t>
            </a:r>
            <a:r>
              <a:rPr lang="it-IT" sz="2000" dirty="0"/>
              <a:t> per </a:t>
            </a:r>
            <a:r>
              <a:rPr lang="it-IT" sz="2000" b="1" dirty="0"/>
              <a:t>privacy</a:t>
            </a:r>
            <a:r>
              <a:rPr lang="it-IT" sz="2000" dirty="0"/>
              <a:t> invece richiede che il modello abbia </a:t>
            </a:r>
            <a:r>
              <a:rPr lang="it-IT" sz="2000" b="1" dirty="0"/>
              <a:t>effettivamente dimenticato</a:t>
            </a:r>
            <a:r>
              <a:rPr lang="it-IT" sz="2000" dirty="0"/>
              <a:t> i dati </a:t>
            </a:r>
            <a:r>
              <a:rPr lang="it-IT" sz="2000" dirty="0" err="1"/>
              <a:t>unlearned</a:t>
            </a:r>
            <a:r>
              <a:rPr lang="it-IT" sz="2000" dirty="0"/>
              <a:t> (sola </a:t>
            </a:r>
            <a:r>
              <a:rPr lang="it-IT" sz="2000" dirty="0" err="1"/>
              <a:t>accuracy</a:t>
            </a:r>
            <a:r>
              <a:rPr lang="it-IT" sz="2000" dirty="0"/>
              <a:t> non sufficiente)</a:t>
            </a:r>
          </a:p>
          <a:p>
            <a:endParaRPr lang="it-IT" sz="2000" dirty="0"/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549164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AAAEF-03AA-5A2E-9224-94215E0D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79DF510-F4D1-DEB8-DCA9-BB003DFC6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2" y="620689"/>
            <a:ext cx="9743530" cy="648071"/>
          </a:xfrm>
        </p:spPr>
        <p:txBody>
          <a:bodyPr/>
          <a:lstStyle/>
          <a:p>
            <a:r>
              <a:rPr lang="it-IT" dirty="0"/>
              <a:t>Esempio di un Semplice Metodo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B1E0B5A-C807-41E7-EF2A-0A3A180CC1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412875"/>
            <a:ext cx="3552725" cy="432038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Parte finale</a:t>
            </a:r>
            <a:r>
              <a:rPr lang="it-IT" sz="2000" dirty="0"/>
              <a:t> della rete: indipendente tra i client</a:t>
            </a:r>
          </a:p>
          <a:p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Prima parte </a:t>
            </a:r>
            <a:r>
              <a:rPr lang="it-IT" sz="2000" dirty="0"/>
              <a:t>della rete: contributi di tutti i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/>
              <a:t>Unlearning</a:t>
            </a:r>
            <a:r>
              <a:rPr lang="it-IT" sz="2000" dirty="0"/>
              <a:t> efficace in casi di backdoor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r>
              <a:rPr lang="it-IT" sz="2000" b="1" dirty="0"/>
              <a:t>È efficace in caso di </a:t>
            </a:r>
            <a:r>
              <a:rPr lang="it-IT" sz="2000" b="1" dirty="0" err="1"/>
              <a:t>unlearning</a:t>
            </a:r>
            <a:r>
              <a:rPr lang="it-IT" sz="2000" b="1" dirty="0"/>
              <a:t> per privacy?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B28C3BB-88BA-8209-DB59-750574DB2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456" y="934562"/>
            <a:ext cx="7128792" cy="480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31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3E24-8CA3-1D07-1B4B-46AE2A463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FD8F1D4-97EE-86B3-5CFD-C91FE1D3B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2" y="620689"/>
            <a:ext cx="9743530" cy="648071"/>
          </a:xfrm>
        </p:spPr>
        <p:txBody>
          <a:bodyPr/>
          <a:lstStyle/>
          <a:p>
            <a:r>
              <a:rPr lang="it-IT" dirty="0"/>
              <a:t>Obiettivo dell’Attività Progettuale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91F902-339F-ECDC-2274-78E32A1BAD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sz="2000" dirty="0"/>
              <a:t>Questi algoritmi fanno in modo che il modello </a:t>
            </a:r>
            <a:r>
              <a:rPr lang="it-IT" sz="2000" b="1" dirty="0"/>
              <a:t>effettivamente dimentichi i dati </a:t>
            </a:r>
            <a:r>
              <a:rPr lang="it-IT" sz="2000" dirty="0"/>
              <a:t>o la loro influenza rimane all’interno della rete?</a:t>
            </a:r>
          </a:p>
          <a:p>
            <a:endParaRPr lang="it-IT" sz="2000" dirty="0"/>
          </a:p>
          <a:p>
            <a:r>
              <a:rPr lang="it-IT" sz="2000" dirty="0"/>
              <a:t>Dopo l’</a:t>
            </a:r>
            <a:r>
              <a:rPr lang="it-IT" sz="2000" dirty="0" err="1"/>
              <a:t>unlearning</a:t>
            </a:r>
            <a:r>
              <a:rPr lang="it-IT" sz="2000" dirty="0"/>
              <a:t>, la rete contiene ancora </a:t>
            </a:r>
            <a:r>
              <a:rPr lang="it-IT" sz="2000" b="1" dirty="0"/>
              <a:t>informazioni sui dati</a:t>
            </a:r>
            <a:r>
              <a:rPr lang="it-IT" sz="2000" dirty="0"/>
              <a:t> che sono stati dimenticati?</a:t>
            </a:r>
          </a:p>
          <a:p>
            <a:endParaRPr lang="it-IT" sz="2000" dirty="0"/>
          </a:p>
          <a:p>
            <a:r>
              <a:rPr lang="it-IT" sz="2000" dirty="0"/>
              <a:t>Come si può valutare l’efficacia di un metodo di </a:t>
            </a:r>
            <a:r>
              <a:rPr lang="it-IT" sz="2000" dirty="0" err="1"/>
              <a:t>unlearning</a:t>
            </a:r>
            <a:r>
              <a:rPr lang="it-IT" sz="2000" dirty="0"/>
              <a:t> approssimato in modo da considerare informazioni rilevabili </a:t>
            </a:r>
            <a:r>
              <a:rPr lang="it-IT" sz="2000" b="1" dirty="0"/>
              <a:t>all’interno dell’intera rete</a:t>
            </a:r>
            <a:r>
              <a:rPr lang="it-IT" sz="2000" dirty="0"/>
              <a:t>?</a:t>
            </a:r>
          </a:p>
          <a:p>
            <a:endParaRPr lang="it-IT" sz="2000" dirty="0"/>
          </a:p>
          <a:p>
            <a:r>
              <a:rPr lang="it-IT" sz="2000" b="1" dirty="0"/>
              <a:t>Obiettivo</a:t>
            </a:r>
            <a:r>
              <a:rPr lang="it-IT" sz="2000" dirty="0"/>
              <a:t>: studiare come all’interno di una rete rimangano informazioni sui dati di training, e quindi possibilmente sui dati </a:t>
            </a:r>
            <a:r>
              <a:rPr lang="it-IT" sz="2000" dirty="0" err="1"/>
              <a:t>unlearned</a:t>
            </a:r>
            <a:r>
              <a:rPr lang="it-IT" sz="2000" dirty="0"/>
              <a:t>, analizzando non solo l’output ma anche i </a:t>
            </a:r>
            <a:r>
              <a:rPr lang="it-IT" sz="2000" dirty="0" err="1"/>
              <a:t>layer</a:t>
            </a:r>
            <a:r>
              <a:rPr lang="it-IT" sz="2000" dirty="0"/>
              <a:t> intermedi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32955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52CD3-A0DA-DEB8-4A69-1EE4E2C33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C7C7D9FE-49A1-E979-9207-2FAAD5A858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Analisi Performance: Valutazione </a:t>
            </a:r>
            <a:r>
              <a:rPr lang="it-IT" dirty="0" err="1"/>
              <a:t>Accuracy</a:t>
            </a:r>
            <a:r>
              <a:rPr lang="it-IT" dirty="0"/>
              <a:t>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A7D32B-5392-C647-2164-7821337AAE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sz="2000" dirty="0"/>
              <a:t>Come algoritmi di </a:t>
            </a:r>
            <a:r>
              <a:rPr lang="it-IT" sz="2000" dirty="0" err="1"/>
              <a:t>unlearning</a:t>
            </a:r>
            <a:r>
              <a:rPr lang="it-IT" sz="2000" dirty="0"/>
              <a:t> di test sono stati scelti </a:t>
            </a:r>
            <a:r>
              <a:rPr lang="it-IT" sz="2000" dirty="0" err="1"/>
              <a:t>Gradient</a:t>
            </a:r>
            <a:r>
              <a:rPr lang="it-IT" sz="2000" dirty="0"/>
              <a:t> </a:t>
            </a:r>
            <a:r>
              <a:rPr lang="it-IT" sz="2000" dirty="0" err="1"/>
              <a:t>Ascent</a:t>
            </a:r>
            <a:r>
              <a:rPr lang="it-IT" sz="2000" dirty="0"/>
              <a:t> </a:t>
            </a:r>
            <a:r>
              <a:rPr lang="it-IT" sz="2000" dirty="0" err="1"/>
              <a:t>unlearning</a:t>
            </a:r>
            <a:r>
              <a:rPr lang="it-IT" sz="2000" dirty="0"/>
              <a:t> e </a:t>
            </a:r>
            <a:r>
              <a:rPr lang="it-IT" sz="2000" dirty="0" err="1"/>
              <a:t>NoT</a:t>
            </a:r>
            <a:endParaRPr lang="it-IT" sz="2000" dirty="0"/>
          </a:p>
          <a:p>
            <a:r>
              <a:rPr lang="it-IT" sz="2000" dirty="0"/>
              <a:t>Test condotti su CIFAR10 usando una ResNet18 </a:t>
            </a:r>
          </a:p>
          <a:p>
            <a:endParaRPr lang="it-IT" sz="2000" dirty="0"/>
          </a:p>
          <a:p>
            <a:r>
              <a:rPr lang="it-IT" sz="2000" dirty="0"/>
              <a:t>Inizio studio basato sulle performance di </a:t>
            </a:r>
            <a:r>
              <a:rPr lang="it-IT" sz="2000" dirty="0" err="1"/>
              <a:t>accuracy</a:t>
            </a:r>
            <a:r>
              <a:rPr lang="it-IT" sz="2000" dirty="0"/>
              <a:t> per training, </a:t>
            </a:r>
            <a:r>
              <a:rPr lang="it-IT" sz="2000" dirty="0" err="1"/>
              <a:t>unlearned</a:t>
            </a:r>
            <a:r>
              <a:rPr lang="it-IT" sz="2000" dirty="0"/>
              <a:t>  e test dataset</a:t>
            </a:r>
          </a:p>
          <a:p>
            <a:endParaRPr lang="it-IT" sz="2000" dirty="0"/>
          </a:p>
          <a:p>
            <a:r>
              <a:rPr lang="it-IT" sz="2000" dirty="0"/>
              <a:t>Confronto dei due metodi con il modello originale e il modello </a:t>
            </a:r>
            <a:r>
              <a:rPr lang="it-IT" sz="2000" dirty="0" err="1"/>
              <a:t>retrained</a:t>
            </a: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B50AB2B-7DFC-D1CA-35E1-A17B74708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35" y="3896077"/>
            <a:ext cx="7916380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8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E9DCC-D204-5E7B-D9BB-6176F94D7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C36D7CA7-36F2-A0E1-B22E-5AC841353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Analisi Output: </a:t>
            </a:r>
            <a:r>
              <a:rPr lang="it-IT" dirty="0" err="1"/>
              <a:t>LiRA</a:t>
            </a:r>
            <a:r>
              <a:rPr lang="it-IT" dirty="0"/>
              <a:t> Come MIA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41D51A7-9D5F-B3CE-F185-573EF2747C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412875"/>
            <a:ext cx="4128789" cy="4320381"/>
          </a:xfrm>
        </p:spPr>
        <p:txBody>
          <a:bodyPr/>
          <a:lstStyle/>
          <a:p>
            <a:r>
              <a:rPr lang="it-IT" sz="2000" dirty="0"/>
              <a:t>Spesso come MIA vengono utilizzati un </a:t>
            </a:r>
            <a:r>
              <a:rPr lang="it-IT" sz="2000" b="1" dirty="0"/>
              <a:t>semplice classificatore </a:t>
            </a:r>
            <a:r>
              <a:rPr lang="it-IT" sz="2000" dirty="0"/>
              <a:t>o il primo metodo con </a:t>
            </a:r>
            <a:r>
              <a:rPr lang="it-IT" sz="2000" b="1" dirty="0" err="1"/>
              <a:t>shadow</a:t>
            </a:r>
            <a:r>
              <a:rPr lang="it-IT" sz="2000" b="1" dirty="0"/>
              <a:t> models </a:t>
            </a:r>
            <a:r>
              <a:rPr lang="it-IT" sz="2000" dirty="0"/>
              <a:t>introdotto da </a:t>
            </a:r>
            <a:r>
              <a:rPr lang="it-IT" sz="2000" b="1" dirty="0" err="1"/>
              <a:t>Shokri</a:t>
            </a:r>
            <a:endParaRPr lang="it-IT" sz="2000" b="1" dirty="0"/>
          </a:p>
          <a:p>
            <a:endParaRPr lang="it-IT" sz="2000" b="1" dirty="0"/>
          </a:p>
          <a:p>
            <a:r>
              <a:rPr lang="it-IT" sz="2000" dirty="0"/>
              <a:t>Esistono metodi più efficaci come </a:t>
            </a:r>
            <a:r>
              <a:rPr lang="it-IT" sz="2000" b="1" dirty="0" err="1"/>
              <a:t>LiRA</a:t>
            </a:r>
            <a:endParaRPr lang="it-IT" sz="2000" b="1" dirty="0"/>
          </a:p>
          <a:p>
            <a:endParaRPr lang="it-IT" sz="2000" b="1" dirty="0"/>
          </a:p>
          <a:p>
            <a:r>
              <a:rPr lang="it-IT" sz="2000" dirty="0"/>
              <a:t>È stata analizzata l’efficacia di un MIA basato su </a:t>
            </a:r>
            <a:r>
              <a:rPr lang="it-IT" sz="2000" dirty="0" err="1"/>
              <a:t>LiRA</a:t>
            </a:r>
            <a:r>
              <a:rPr lang="it-IT" sz="2000" dirty="0"/>
              <a:t> per studiare il comportamento nell’output del modello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9A65AC1-2967-326F-06E6-7F70DFEE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832" y="1556693"/>
            <a:ext cx="7403093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81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82677-76D7-AA63-86D0-CC06477C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65D0367-6191-6914-77EC-4C609B153A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Analisi Ultimo Layer: Statistiche Features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9ABE13A-622B-ABE1-C62B-6770041B7D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412875"/>
            <a:ext cx="6865093" cy="5184477"/>
          </a:xfrm>
        </p:spPr>
        <p:txBody>
          <a:bodyPr/>
          <a:lstStyle/>
          <a:p>
            <a:r>
              <a:rPr lang="it-IT" sz="2000" dirty="0"/>
              <a:t>Ultimo </a:t>
            </a:r>
            <a:r>
              <a:rPr lang="it-IT" sz="2000" dirty="0" err="1"/>
              <a:t>layer</a:t>
            </a:r>
            <a:r>
              <a:rPr lang="it-IT" sz="2000" dirty="0"/>
              <a:t> prima del classificatore: </a:t>
            </a:r>
            <a:r>
              <a:rPr lang="it-IT" sz="2000" b="1" dirty="0"/>
              <a:t>rappresentazione interna </a:t>
            </a:r>
            <a:r>
              <a:rPr lang="it-IT" sz="2000" dirty="0"/>
              <a:t>delle </a:t>
            </a:r>
            <a:r>
              <a:rPr lang="it-IT" sz="2000" b="1" dirty="0"/>
              <a:t>features</a:t>
            </a:r>
            <a:r>
              <a:rPr lang="it-IT" sz="2000" dirty="0"/>
              <a:t> dell’input</a:t>
            </a:r>
          </a:p>
          <a:p>
            <a:endParaRPr lang="it-IT" sz="2000" dirty="0"/>
          </a:p>
          <a:p>
            <a:r>
              <a:rPr lang="it-IT" sz="2000" b="1" dirty="0"/>
              <a:t>Idea</a:t>
            </a:r>
            <a:r>
              <a:rPr lang="it-IT" sz="2000" dirty="0"/>
              <a:t>: il modello imparerà a rappresentare in maniera più precisa i dati di training rispetto a quelli (features rilevanti più alte e quelle meno rilevanti più vicine allo zero)</a:t>
            </a:r>
          </a:p>
          <a:p>
            <a:endParaRPr lang="it-IT" sz="2000" dirty="0"/>
          </a:p>
          <a:p>
            <a:r>
              <a:rPr lang="it-IT" sz="2000" dirty="0"/>
              <a:t>Studio di alcune statistiche sulle attivazioni dell’ultimo </a:t>
            </a:r>
            <a:r>
              <a:rPr lang="it-IT" sz="2000" dirty="0" err="1"/>
              <a:t>layer</a:t>
            </a:r>
            <a:r>
              <a:rPr lang="it-IT" sz="2000" dirty="0"/>
              <a:t> (es. massimo, media, varianza) e utilizzo come score per </a:t>
            </a:r>
            <a:r>
              <a:rPr lang="it-IT" sz="2000" dirty="0" err="1"/>
              <a:t>LiRA</a:t>
            </a:r>
            <a:endParaRPr lang="it-IT" sz="2000" dirty="0"/>
          </a:p>
          <a:p>
            <a:endParaRPr lang="it-IT" sz="2000" dirty="0"/>
          </a:p>
          <a:p>
            <a:r>
              <a:rPr lang="it-IT" sz="2000" dirty="0"/>
              <a:t>Risultati apprezzabili nel modello originale (training vs test) ma non rilevabili nei modelli </a:t>
            </a:r>
            <a:r>
              <a:rPr lang="it-IT" sz="2000" dirty="0" err="1"/>
              <a:t>unlearned</a:t>
            </a:r>
            <a:endParaRPr lang="it-IT" sz="20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C173D9F-CB13-754E-FBEA-A2B9D7492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144" y="1096704"/>
            <a:ext cx="4621343" cy="466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264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BAC94-00D9-A03F-822E-3A3150C4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DDA08C4-C059-6956-B79A-7276CE4271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Analisi Ultimo Layer: Proiezione Features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12F92C1-B43A-E967-A580-6E43F8E445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07968" y="1283905"/>
            <a:ext cx="4896544" cy="5184477"/>
          </a:xfrm>
        </p:spPr>
        <p:txBody>
          <a:bodyPr/>
          <a:lstStyle/>
          <a:p>
            <a:r>
              <a:rPr lang="it-IT" sz="2000" dirty="0"/>
              <a:t>Partendo dalla stessa rappresentazione, visualizzazione della proiezione in 2D (tramite t-SNE e UMAP) delle features</a:t>
            </a:r>
          </a:p>
          <a:p>
            <a:endParaRPr lang="it-IT" sz="2000" dirty="0"/>
          </a:p>
          <a:p>
            <a:r>
              <a:rPr lang="it-IT" sz="2000" b="1" dirty="0"/>
              <a:t>Cluster più definiti e densi </a:t>
            </a:r>
            <a:r>
              <a:rPr lang="it-IT" sz="2000" dirty="0"/>
              <a:t>per i dati visti durante il training</a:t>
            </a:r>
          </a:p>
          <a:p>
            <a:endParaRPr lang="it-IT" sz="2000" dirty="0"/>
          </a:p>
          <a:p>
            <a:r>
              <a:rPr lang="it-IT" sz="2000" dirty="0"/>
              <a:t>In questo caso la differenza è apprezzabile anche per quanto riguarda </a:t>
            </a:r>
            <a:r>
              <a:rPr lang="it-IT" sz="2000" dirty="0" err="1"/>
              <a:t>gradient</a:t>
            </a:r>
            <a:r>
              <a:rPr lang="it-IT" sz="2000" dirty="0"/>
              <a:t> </a:t>
            </a:r>
            <a:r>
              <a:rPr lang="it-IT" sz="2000" dirty="0" err="1"/>
              <a:t>ascent</a:t>
            </a:r>
            <a:r>
              <a:rPr lang="it-IT" sz="2000" dirty="0"/>
              <a:t> </a:t>
            </a:r>
            <a:r>
              <a:rPr lang="it-IT" sz="2000" dirty="0" err="1"/>
              <a:t>unlearning</a:t>
            </a:r>
            <a:endParaRPr lang="it-IT" sz="20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389E8B8-8FFA-567D-6263-5DC2327F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1" y="1124744"/>
            <a:ext cx="5055984" cy="259732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D4BE596-ECCC-8823-9BCB-C12B37DE3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74" y="3885814"/>
            <a:ext cx="4962938" cy="25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75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A16C-AC16-3D50-5C83-9C509E9B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AF7C30A-0139-CF5E-A431-27F327F22E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Analisi Ultimo Layer: Proiezione Features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7357761-74B7-A71B-6C4A-3C9C87DB1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81" y="1916832"/>
            <a:ext cx="7909438" cy="1948701"/>
          </a:xfrm>
          <a:prstGeom prst="rect">
            <a:avLst/>
          </a:prstGeom>
        </p:spPr>
      </p:pic>
      <p:sp>
        <p:nvSpPr>
          <p:cNvPr id="7" name="Segnaposto testo 4">
            <a:extLst>
              <a:ext uri="{FF2B5EF4-FFF2-40B4-BE49-F238E27FC236}">
                <a16:creationId xmlns:a16="http://schemas.microsoft.com/office/drawing/2014/main" id="{11A9DE16-3C77-6E6E-2D29-A69424C991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124745"/>
            <a:ext cx="6145013" cy="5472608"/>
          </a:xfrm>
        </p:spPr>
        <p:txBody>
          <a:bodyPr/>
          <a:lstStyle/>
          <a:p>
            <a:r>
              <a:rPr lang="it-IT" sz="2000" dirty="0"/>
              <a:t>Distanze dal baricentro dei cluster</a:t>
            </a:r>
          </a:p>
          <a:p>
            <a:r>
              <a:rPr lang="it-IT" sz="2000" dirty="0"/>
              <a:t>Della proiezione UMAP:</a:t>
            </a:r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1000" dirty="0"/>
          </a:p>
          <a:p>
            <a:r>
              <a:rPr lang="it-IT" sz="2000" dirty="0"/>
              <a:t>Nello spazio delle features: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7403CBA-BE18-EF61-1AEA-259E6A363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408" y="4672953"/>
            <a:ext cx="8131183" cy="206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7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FA8FA-77E3-A31C-5D9B-CCEFE15E6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C8B27A6-D6B4-FF07-0BD8-B844EAD45B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Analisi Layer Intermedi: Ricostruzione Immagini dalle Attivazioni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7FBC979-90B3-7254-8ED1-87C0F90348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412875"/>
            <a:ext cx="11329589" cy="5184477"/>
          </a:xfrm>
        </p:spPr>
        <p:txBody>
          <a:bodyPr/>
          <a:lstStyle/>
          <a:p>
            <a:r>
              <a:rPr lang="it-IT" sz="2000" dirty="0"/>
              <a:t>Analisi attivazione </a:t>
            </a:r>
            <a:r>
              <a:rPr lang="it-IT" sz="2000" dirty="0" err="1"/>
              <a:t>layer</a:t>
            </a:r>
            <a:r>
              <a:rPr lang="it-IT" sz="2000" dirty="0"/>
              <a:t> </a:t>
            </a:r>
            <a:r>
              <a:rPr lang="it-IT" sz="2000" dirty="0" err="1"/>
              <a:t>itermedi</a:t>
            </a:r>
            <a:r>
              <a:rPr lang="it-IT" sz="2000" dirty="0"/>
              <a:t> più complicata: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/>
              <a:t>Maggiore dimensionalità </a:t>
            </a:r>
            <a:r>
              <a:rPr lang="it-IT" sz="2000" dirty="0"/>
              <a:t>dello spazio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Attivazioni  più vicine all’input </a:t>
            </a:r>
            <a:r>
              <a:rPr lang="it-IT" sz="2000" b="1" dirty="0"/>
              <a:t>più generiche</a:t>
            </a:r>
          </a:p>
          <a:p>
            <a:endParaRPr lang="it-IT" sz="2000" dirty="0"/>
          </a:p>
          <a:p>
            <a:r>
              <a:rPr lang="it-IT" sz="2000" b="1" dirty="0"/>
              <a:t>Idea</a:t>
            </a:r>
            <a:r>
              <a:rPr lang="it-IT" sz="2000" dirty="0"/>
              <a:t>: più si considerano attivazioni a valle nella rete, più vengono perse informazioni sull’input iniziale, la rete seleziona quali tenere in quanto rilevanti. La rete potrebbe mantenere più informazioni relative a dati di training</a:t>
            </a:r>
          </a:p>
          <a:p>
            <a:endParaRPr lang="it-IT" sz="2000" dirty="0"/>
          </a:p>
          <a:p>
            <a:r>
              <a:rPr lang="it-IT" sz="2000" dirty="0"/>
              <a:t>Ricostruzione delle immagini a partire dalla loro attivazione a un certo </a:t>
            </a:r>
            <a:r>
              <a:rPr lang="it-IT" sz="2000" dirty="0" err="1"/>
              <a:t>layer</a:t>
            </a:r>
            <a:r>
              <a:rPr lang="it-IT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 err="1"/>
              <a:t>Forward</a:t>
            </a:r>
            <a:r>
              <a:rPr lang="it-IT" sz="2000" dirty="0"/>
              <a:t> pass </a:t>
            </a:r>
            <a:r>
              <a:rPr lang="it-IT" sz="2000" b="1" dirty="0"/>
              <a:t>immagine originale </a:t>
            </a:r>
            <a:r>
              <a:rPr lang="it-IT" sz="2000" dirty="0"/>
              <a:t>-&gt; salvataggio </a:t>
            </a:r>
            <a:r>
              <a:rPr lang="it-IT" sz="2000" b="1" dirty="0"/>
              <a:t>attivazione di un </a:t>
            </a:r>
            <a:r>
              <a:rPr lang="it-IT" sz="2000" b="1" dirty="0" err="1"/>
              <a:t>layer</a:t>
            </a:r>
            <a:r>
              <a:rPr lang="it-IT" sz="2000" b="1" dirty="0"/>
              <a:t> target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Input con </a:t>
            </a:r>
            <a:r>
              <a:rPr lang="it-IT" sz="2000" b="1" dirty="0"/>
              <a:t>immagine dummy </a:t>
            </a:r>
            <a:r>
              <a:rPr lang="it-IT" sz="2000" dirty="0"/>
              <a:t>(pattern neutro: nero, rumore) e </a:t>
            </a:r>
            <a:r>
              <a:rPr lang="it-IT" sz="2000" dirty="0" err="1"/>
              <a:t>freeze</a:t>
            </a:r>
            <a:r>
              <a:rPr lang="it-IT" sz="2000" dirty="0"/>
              <a:t> pesi della rete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/>
              <a:t>Ottimizzazione pixel immagine dummy </a:t>
            </a:r>
            <a:r>
              <a:rPr lang="it-IT" sz="2000" dirty="0"/>
              <a:t>per </a:t>
            </a:r>
            <a:r>
              <a:rPr lang="it-IT" sz="2000" b="1" dirty="0"/>
              <a:t>minimizzare la distanza </a:t>
            </a:r>
            <a:r>
              <a:rPr lang="it-IT" sz="2000" dirty="0"/>
              <a:t>dell’attivazione del </a:t>
            </a:r>
            <a:r>
              <a:rPr lang="it-IT" sz="2000" dirty="0" err="1"/>
              <a:t>layer</a:t>
            </a:r>
            <a:r>
              <a:rPr lang="it-IT" sz="2000" dirty="0"/>
              <a:t> target dall’attivazione dell’</a:t>
            </a:r>
            <a:r>
              <a:rPr lang="it-IT" sz="2000" b="1" dirty="0"/>
              <a:t>immagine originale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Al termine si ottiene una ricostruzione dell’immagine originale</a:t>
            </a:r>
          </a:p>
        </p:txBody>
      </p:sp>
    </p:spTree>
    <p:extLst>
      <p:ext uri="{BB962C8B-B14F-4D97-AF65-F5344CB8AC3E}">
        <p14:creationId xmlns:p14="http://schemas.microsoft.com/office/powerpoint/2010/main" val="921666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47B45-0066-4B9F-757B-974DA0D2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89765C2-F291-870D-1129-DE9ADDBADA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Analisi Layer Intermedi: Ricostruzione Immagini dalle Attivazioni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B50D4B4-B3DB-0A1D-6358-0E042EF11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1" y="1844824"/>
            <a:ext cx="10565893" cy="4312740"/>
          </a:xfrm>
          <a:prstGeom prst="rect">
            <a:avLst/>
          </a:prstGeom>
        </p:spPr>
      </p:pic>
      <p:sp>
        <p:nvSpPr>
          <p:cNvPr id="9" name="Segnaposto testo 4">
            <a:extLst>
              <a:ext uri="{FF2B5EF4-FFF2-40B4-BE49-F238E27FC236}">
                <a16:creationId xmlns:a16="http://schemas.microsoft.com/office/drawing/2014/main" id="{4C3CE9EF-3DD0-BD48-3996-E657AD8E9C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5400" y="1340867"/>
            <a:ext cx="5616624" cy="431949"/>
          </a:xfrm>
        </p:spPr>
        <p:txBody>
          <a:bodyPr/>
          <a:lstStyle/>
          <a:p>
            <a:r>
              <a:rPr lang="it-IT" sz="2000" dirty="0"/>
              <a:t>Ricostruzione da ResNet18 </a:t>
            </a:r>
            <a:r>
              <a:rPr lang="it-IT" sz="2000" i="1" dirty="0"/>
              <a:t>layer4.1.conv1</a:t>
            </a:r>
            <a:r>
              <a:rPr lang="it-IT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62375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1FE7-AE09-B7D7-7931-43604BAC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2F58AC6-208B-D514-C575-8FC6F47ED1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Analisi Layer Intermedi: Ricostruzione Immagini dalle Attivazioni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A2D2586-F6F8-B84A-5746-822DC2238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992" y="1916832"/>
            <a:ext cx="5053210" cy="4536504"/>
          </a:xfrm>
          <a:prstGeom prst="rect">
            <a:avLst/>
          </a:prstGeom>
        </p:spPr>
      </p:pic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5756CC6-C6B0-2D15-78C5-B2E1867BB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0016" y="1484883"/>
            <a:ext cx="4344813" cy="431949"/>
          </a:xfrm>
        </p:spPr>
        <p:txBody>
          <a:bodyPr/>
          <a:lstStyle/>
          <a:p>
            <a:r>
              <a:rPr lang="it-IT" sz="2000" dirty="0"/>
              <a:t>Ricostruzione da ResNet18 </a:t>
            </a:r>
            <a:r>
              <a:rPr lang="it-IT" sz="2000" i="1" dirty="0"/>
              <a:t>layer2</a:t>
            </a:r>
            <a:r>
              <a:rPr lang="it-IT" sz="2000" dirty="0"/>
              <a:t>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6FCA2CC-E0BD-8FBC-2204-61CCC629A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337420"/>
            <a:ext cx="4438632" cy="511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15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42BF-BFD4-AF2D-27C9-01508D4E8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3CA6B4B-3DBA-1DCC-2947-A00577B22A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Analisi Layer Intermedi: Analisi Decisione della Rete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737C339-C8CA-7F88-1DE6-B6A669C64F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412875"/>
            <a:ext cx="5424933" cy="5184477"/>
          </a:xfrm>
        </p:spPr>
        <p:txBody>
          <a:bodyPr/>
          <a:lstStyle/>
          <a:p>
            <a:r>
              <a:rPr lang="it-IT" sz="2000" dirty="0"/>
              <a:t>Analisi dei pixel più rilevanti per la decisione presa dalla rete considerando attivazioni e gradienti di determinati </a:t>
            </a:r>
            <a:r>
              <a:rPr lang="it-IT" sz="2000" dirty="0" err="1"/>
              <a:t>layer</a:t>
            </a:r>
            <a:r>
              <a:rPr lang="it-IT" sz="2000" dirty="0"/>
              <a:t> intermedi</a:t>
            </a:r>
          </a:p>
          <a:p>
            <a:endParaRPr lang="it-IT" sz="2000" dirty="0"/>
          </a:p>
          <a:p>
            <a:r>
              <a:rPr lang="it-IT" sz="2000" dirty="0"/>
              <a:t>Diversi metodi, ad esempio </a:t>
            </a:r>
            <a:r>
              <a:rPr lang="it-IT" sz="2000" b="1" dirty="0"/>
              <a:t>Grad-CAM</a:t>
            </a:r>
          </a:p>
          <a:p>
            <a:endParaRPr lang="it-IT" sz="2000" dirty="0"/>
          </a:p>
          <a:p>
            <a:r>
              <a:rPr lang="it-IT" sz="2000" dirty="0"/>
              <a:t>Possibilità di analizzare come le parti di un’immagine contribuiscono diversamente alla sua classificazione confrontando modello originale e </a:t>
            </a:r>
            <a:r>
              <a:rPr lang="it-IT" sz="2000" dirty="0" err="1"/>
              <a:t>unlearned</a:t>
            </a:r>
            <a:endParaRPr lang="it-IT" sz="2000" dirty="0"/>
          </a:p>
          <a:p>
            <a:endParaRPr lang="it-IT" sz="2000" dirty="0"/>
          </a:p>
          <a:p>
            <a:r>
              <a:rPr lang="it-IT" sz="2000" dirty="0"/>
              <a:t>Possibilità di valutare l’</a:t>
            </a:r>
            <a:r>
              <a:rPr lang="it-IT" sz="2000" dirty="0" err="1"/>
              <a:t>unlearning</a:t>
            </a:r>
            <a:r>
              <a:rPr lang="it-IT" sz="2000" dirty="0"/>
              <a:t> in caso di </a:t>
            </a:r>
            <a:r>
              <a:rPr lang="it-IT" sz="2000" dirty="0" err="1"/>
              <a:t>overfitting</a:t>
            </a:r>
            <a:endParaRPr lang="it-IT" sz="20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3C578DA-A977-B20D-7653-9564C6E39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992" y="1412875"/>
            <a:ext cx="5071963" cy="458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48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6C468-4050-F38D-E1E0-FA62EDB7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0C18C03-31EC-8AD6-2046-099F83D97C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620688"/>
            <a:ext cx="9743530" cy="648071"/>
          </a:xfrm>
        </p:spPr>
        <p:txBody>
          <a:bodyPr/>
          <a:lstStyle/>
          <a:p>
            <a:r>
              <a:rPr lang="it-IT" dirty="0"/>
              <a:t>Un Possibile Framework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EAB26C6-1338-B30E-AEAD-A717B79CEA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1" y="1412875"/>
            <a:ext cx="4920877" cy="5184477"/>
          </a:xfrm>
        </p:spPr>
        <p:txBody>
          <a:bodyPr/>
          <a:lstStyle/>
          <a:p>
            <a:r>
              <a:rPr lang="it-IT" sz="2000" dirty="0"/>
              <a:t>Informazioni su dati di training (e quindi </a:t>
            </a:r>
            <a:r>
              <a:rPr lang="it-IT" sz="2000" dirty="0" err="1"/>
              <a:t>unlearned</a:t>
            </a:r>
            <a:r>
              <a:rPr lang="it-IT" sz="2000" dirty="0"/>
              <a:t>) possono essere presenti e rilevabili non solo nel comportamento in output di una rete, ma anche al suo interno</a:t>
            </a:r>
          </a:p>
          <a:p>
            <a:endParaRPr lang="it-IT" sz="2000" dirty="0"/>
          </a:p>
          <a:p>
            <a:r>
              <a:rPr lang="it-IT" sz="2000" dirty="0"/>
              <a:t>Sarebbe quindi opportuno per una valutazione più completa di metodi di </a:t>
            </a:r>
            <a:r>
              <a:rPr lang="it-IT" sz="2000" dirty="0" err="1"/>
              <a:t>unlearning</a:t>
            </a:r>
            <a:r>
              <a:rPr lang="it-IT" sz="2000" dirty="0"/>
              <a:t> considerare: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Statistiche di </a:t>
            </a:r>
            <a:r>
              <a:rPr lang="it-IT" sz="2000" b="1" dirty="0"/>
              <a:t>prestazioni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Comportamento dell’</a:t>
            </a:r>
            <a:r>
              <a:rPr lang="it-IT" sz="2000" b="1" dirty="0"/>
              <a:t>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Rappresentazione interna delle </a:t>
            </a:r>
            <a:r>
              <a:rPr lang="it-IT" sz="2000" b="1" dirty="0"/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Comportamento dei </a:t>
            </a:r>
            <a:r>
              <a:rPr lang="it-IT" sz="2000" b="1" dirty="0" err="1"/>
              <a:t>layer</a:t>
            </a:r>
            <a:r>
              <a:rPr lang="it-IT" sz="2000" b="1" dirty="0"/>
              <a:t> intermedi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3F5A1C7-E3FF-87CC-5380-8BE11A2F7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8" y="1252003"/>
            <a:ext cx="6536023" cy="391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1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D389-2690-0C25-E880-0D74F4ED7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8D2262C-8D1A-CB4D-6600-B864EEA93F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Lorenzo Zoccadelli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1168FD86-0807-D4AB-F607-AE136D7947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Corso di Laurea Magistrale in 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4044212972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4000" b="1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DIAPOSITIV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IUSURA">
  <a:themeElements>
    <a:clrScheme name="Personalizzato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EEEC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991</Words>
  <Application>Microsoft Office PowerPoint</Application>
  <PresentationFormat>Widescreen</PresentationFormat>
  <Paragraphs>138</Paragraphs>
  <Slides>19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 Gothic</vt:lpstr>
      <vt:lpstr>Wingdings</vt:lpstr>
      <vt:lpstr>COPERTINA</vt:lpstr>
      <vt:lpstr>DIAPOSITIVE</vt:lpstr>
      <vt:lpstr>CHIUSURA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di Bologna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</dc:creator>
  <cp:lastModifiedBy>Lorenzo Zoccadelli - lorenzo.zoccadelli@studio.unibo.it</cp:lastModifiedBy>
  <cp:revision>66</cp:revision>
  <dcterms:created xsi:type="dcterms:W3CDTF">2017-11-13T10:11:35Z</dcterms:created>
  <dcterms:modified xsi:type="dcterms:W3CDTF">2026-04-07T10:43:10Z</dcterms:modified>
</cp:coreProperties>
</file>